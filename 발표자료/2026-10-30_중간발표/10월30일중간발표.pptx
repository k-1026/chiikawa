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8" r:id="rId14"/>
    <p:sldId id="269" r:id="rId15"/>
    <p:sldId id="271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705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[0:20]
피드백을 받고 에이전트 주제부터 다시 잡았습니다. 한 번 기획하고 끝나는 게 아니라, 매년 결과를 쌓아서 다음 해를 더 잘 열게 돕는 에이전트입니다.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
다섯 개 중 네 개는 반영했고, 데이터 확장은 지금 진행 중입니다. 하나씩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
신문기사 대신 공공기관·통계 자료 위주로 근거를 다시 잡았습니다. 출처 우선순위를 지침에 넣었고, 모든 문장에 확인·해석·가설·추정 라벨을 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[0:50]
공통 규칙은 지침서 한 곳에 두고, 단계마다 무엇을 읽고 무엇을 만드는지만 따로 지시했습니다. 지침은 계속 추가하고 강화할 예정입니다.
(민주 설명 이미지 — 에이전트 지침 구조도: 별도 슬라이드나 이 장 뒤에 삽입)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[0:50]
사투리가 재밌어서 고른 게 아니라, 대구가 스쳐 가는 도시라는 문제에서 출발했습니다. 음식은 이미 다른 축제가 하고 있으니, 대구에만 있는 말로 붙잡자는 논리입니다.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
(안내페이지 라이브 시연 또는 화면 녹화. 백업으로 캡처 3장)
에이전트가 2027 시범 실행으로 00 결정기록부터 03 기획안까지 만들었고, 그 기획안으로 모바일 안내페이지를 만들었습니다. 담당자가 '주제 C안으로 정했어'라고 말하면 결정기록에 남고, 영향받는 문서에 갱신 경고가 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
지역 쪽 데이터는 모았고, 이제 사람이 실제로 어떻게 반응하는지를 리뷰·영상·SNS에서 찾고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[0:50]
결승을 토요일 밤에 둔 이유가 핵심입니다. 결승을 보면 그날 집에 가기 어렵고, 숙박을 인증하면 혜택을 주고, 다음 날 아침엔 시내 원조가게로 보냅니다.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[0:50]
(떡볶이앱 비유 — 발표자가 설명) 이런 에이전트가 최종적으로 하면 ○○ 같은 걸 만들 수 있다. 공짜로 바로 모을 수 있는 데이터가 쌓일수록 해마다 더 정확해집니다.
(민주 설명 이미지 — 에이전트 지침 한 장 요약: 별도 삽입)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FAF15-84A0-A921-3A68-5598A8E9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FDC65-6BDE-4D72-3E7B-220D0C349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D0346-68A5-594A-F73A-32D777547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
캐릭터는 타지에서 온 말손님과 대구 토박이 두 입장입니다. 기본 지침은 3일·8월 말·두류공원·타지역 2030, 3대 프로그램 고정. 2027년 구상은 「타지에서 온 말손님」, 토요일 밤에 결승을 둡니다.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5D45D-5C68-228D-CA67-BCFE55E12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04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
음식 축제를 따라 하려는 게 아니라, 음식을 사투리로 경험하는 길을 만듭니다. 다른 음식 축제와의 차이가 여기서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
캐릭터는 타지에서 온 말손님과 대구 토박이 두 입장입니다. 기본 지침은 3일·8월 말·두류공원·타지역 2030, 3대 프로그램 고정. 2027년 구상은 「타지에서 온 말손님」, 토요일 밤에 결승을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12A3-A707-FA37-8E82-CE809072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99F4C-184C-7752-3704-99D958471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79DD0-1552-B3D8-5243-8BA35456A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
캐릭터는 타지에서 온 말손님과 대구 토박이 두 입장입니다. 기본 지침은 3일·8월 말·두류공원·타지역 2030, 3대 프로그램 고정. 2027년 구상은 「타지에서 온 말손님」, 토요일 밤에 결승을 둡니다.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261A7-7760-4DFD-7BBD-EBC3F2343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5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A106-61B6-5C1B-C0DA-D4460B08C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2DE0A-D7CC-17BB-B3FB-C9D33FC7B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AEA24-6F9C-780F-5E50-E69D2B9D5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
캐릭터는 타지에서 온 말손님과 대구 토박이 두 입장입니다. 기본 지침은 3일·8월 말·두류공원·타지역 2030, 3대 프로그램 고정. 2027년 구상은 「타지에서 온 말손님」, 토요일 밤에 결승을 둡니다.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3C8B1-E9B2-068A-700A-5D173997F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51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B5EE-7A3D-3EFF-25A8-F57DCC21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41265-ABAE-6E03-1F36-DFB87773C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82229-5418-D5B2-B97C-7E883B12E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
캐릭터는 타지에서 온 말손님과 대구 토박이 두 입장입니다. 기본 지침은 3일·8월 말·두류공원·타지역 2030, 3대 프로그램 고정. 2027년 구상은 「타지에서 온 말손님」, 토요일 밤에 결승을 둡니다.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9A99A-AF03-58B6-6C36-3D2628581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88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[0:15]
에이전트를 구체화해서, 사투리 축제가 한 번이 아니라 매년 열리게 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WkSAFgNU68tghfeZUMyNV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0" y="274320"/>
            <a:ext cx="4754880" cy="4754880"/>
          </a:xfrm>
          <a:prstGeom prst="ellipse">
            <a:avLst/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올리브네트워크 LLM 아카데미 · 피드백 반영 발표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사투리 축제를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</a:t>
            </a:r>
            <a:r>
              <a:rPr lang="en-US" sz="3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 수 있게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돕는 에이전트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trike="sngStrike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축제를 기획하는 에이전트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35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035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결과를 쌓아 다음 해를 더 잘 여는 에이전트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2926080" cy="438912"/>
          </a:xfrm>
          <a:prstGeom prst="roundRect">
            <a:avLst>
              <a:gd name="adj" fmla="val 50000"/>
            </a:avLst>
          </a:prstGeom>
          <a:solidFill>
            <a:srgbClr val="1FA8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먼즈이성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2026.10.30</a:t>
            </a:r>
            <a:endParaRPr lang="en-US" sz="1200" dirty="0"/>
          </a:p>
        </p:txBody>
      </p:sp>
      <p:pic>
        <p:nvPicPr>
          <p:cNvPr id="11" name="Image 0" descr="말손님과 토박이 캐릭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88720"/>
            <a:ext cx="4114800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 01–05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 5개, 한눈에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반영했나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188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45336"/>
            <a:ext cx="365760" cy="365760"/>
          </a:xfrm>
          <a:prstGeom prst="ellipse">
            <a:avLst/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57200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481328"/>
            <a:ext cx="3429000" cy="493776"/>
          </a:xfrm>
          <a:prstGeom prst="roundRect">
            <a:avLst>
              <a:gd name="adj" fmla="val 14815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051560" y="148132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신문기사 대신 공공기관·논문·실제 축제 통계로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7408" y="1618488"/>
            <a:ext cx="301752" cy="219456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73168" y="1481328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92040" y="148132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공식·통계 출처 중심으로 재조사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53528" y="1572768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653528" y="157276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365760" cy="365760"/>
          </a:xfrm>
          <a:prstGeom prst="ellipse">
            <a:avLst/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2066544"/>
            <a:ext cx="3429000" cy="493776"/>
          </a:xfrm>
          <a:prstGeom prst="roundRect">
            <a:avLst>
              <a:gd name="adj" fmla="val 14815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51560" y="206654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에이전트가 어떤 지시사항으로 도는지 구체화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07408" y="2203704"/>
            <a:ext cx="301752" cy="219456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73168" y="2066544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892040" y="206654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지침서 + 단계별 명령 4개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53528" y="2157984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653528" y="21579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 · 계속 강화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715768"/>
            <a:ext cx="365760" cy="365760"/>
          </a:xfrm>
          <a:prstGeom prst="ellipse">
            <a:avLst/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72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2651760"/>
            <a:ext cx="3429000" cy="493776"/>
          </a:xfrm>
          <a:prstGeom prst="roundRect">
            <a:avLst>
              <a:gd name="adj" fmla="val 14815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051560" y="265176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 콘셉트 도출 논리, 문제 → 기획안 연결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07408" y="2788920"/>
            <a:ext cx="301752" cy="219456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73168" y="2651760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892040" y="265176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→ 콘셉트 → 기획안 흐름 + 웹 시연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53528" y="274320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653528" y="2743200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300984"/>
            <a:ext cx="365760" cy="365760"/>
          </a:xfrm>
          <a:prstGeom prst="ellipse">
            <a:avLst/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5720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" y="3236976"/>
            <a:ext cx="3429000" cy="493776"/>
          </a:xfrm>
          <a:prstGeom prst="roundRect">
            <a:avLst>
              <a:gd name="adj" fmla="val 14815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51560" y="32369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더 방대하게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07408" y="3374136"/>
            <a:ext cx="301752" cy="219456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773168" y="3236976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892040" y="323697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데이터 수집 완료, 리뷰·영상·SNS 분석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653528" y="3328416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653528" y="332841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14400" y="3822192"/>
            <a:ext cx="3429000" cy="493776"/>
          </a:xfrm>
          <a:prstGeom prst="roundRect">
            <a:avLst>
              <a:gd name="adj" fmla="val 14815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1051560" y="38221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스쳐 가지 않고 머물게 하는 행동 흐름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07408" y="3959352"/>
            <a:ext cx="301752" cy="219456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773168" y="3822192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4892040" y="382219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1박 체류를 목표 1순위로 둔 방문객 여정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53528" y="3913632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7653528" y="3913632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5개 중 4개 반영 완료, 데이터 확장은 지금 진행 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전문 자료로 바꿨다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94360" y="13441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344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733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신문기사보다 공공기관 자료·공문서·논문·실제 축제 통계 같은 전문 자료로 개선 필요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94360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9436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7066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우선순위를 지침에 박고, 공식·통계 자료 중심으로 다시 조사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008C3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1792" y="3383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FE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축제 통계 · 같은 장소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20만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대구치맥페스티벌 2024 첫날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대구시 뉴스룸 · 공식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234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우선순위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153619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760720" y="1536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대구시 · 공공기관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41264" y="1901952"/>
            <a:ext cx="2267712" cy="310896"/>
          </a:xfrm>
          <a:prstGeom prst="roundRect">
            <a:avLst>
              <a:gd name="adj" fmla="val 17647"/>
            </a:avLst>
          </a:prstGeom>
          <a:solidFill>
            <a:srgbClr val="1FA8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54126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한국관광 데이터랩 · 공공데이터포털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21808" y="2267712"/>
            <a:ext cx="2706624" cy="310896"/>
          </a:xfrm>
          <a:prstGeom prst="roundRect">
            <a:avLst>
              <a:gd name="adj" fmla="val 17647"/>
            </a:avLst>
          </a:prstGeom>
          <a:solidFill>
            <a:srgbClr val="4DBE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321808" y="226771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공식 자료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02352" y="2633472"/>
            <a:ext cx="3145536" cy="310896"/>
          </a:xfrm>
          <a:prstGeom prst="roundRect">
            <a:avLst>
              <a:gd name="adj" fmla="val 17647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102352" y="263347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국립국어원 · 학술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82896" y="2999232"/>
            <a:ext cx="3584448" cy="310896"/>
          </a:xfrm>
          <a:prstGeom prst="roundRect">
            <a:avLst>
              <a:gd name="adj" fmla="val 17647"/>
            </a:avLst>
          </a:prstGeom>
          <a:solidFill>
            <a:srgbClr val="B9E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882896" y="299923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364992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663440" y="33649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(반응 참고용)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3822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문장에 라벨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384048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943600" y="38404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38544" y="384048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638544" y="38404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33488" y="384048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333488" y="38404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28432" y="384048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D9DE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028432" y="38404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[확인] = 출처 있는 사실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인용한 출처  대구시 뉴스룸 · 국립국어원 · 한국관광공사 · 한국관광 데이터랩 · KOSIS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에이전트가 어떤 지시로 도는가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94360" y="1289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289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11430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에이전트에 어떤 프롬프트·지시사항으로 돌아가는지 구체화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1307592"/>
            <a:ext cx="329184" cy="237744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64608" y="114300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01768" y="1289304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001768" y="1289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143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지침서 1개 + 단계별 명령 4개, 명령마다 읽을 것·지시·산출물 지정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8653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18653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읽는 것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86537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지시사항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18653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3055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6FB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240280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2240280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/festival-start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21305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운영결과 · 차년도과제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1305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조건을 먼저 묻고, 없으면 [가정] 표시. 축제일에서 연간 일정 역산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2185416"/>
            <a:ext cx="1600200" cy="393192"/>
          </a:xfrm>
          <a:prstGeom prst="roundRect">
            <a:avLst>
              <a:gd name="adj" fmla="val 13953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086600" y="218541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결정기록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기획조건표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70662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8640" y="2816352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548640" y="2816352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/festival-research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240280" y="27066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통합 조사본 → 필요한 원본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27066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표기 통일, 사실과 가설을 나눠 문제 정의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95160" y="2761488"/>
            <a:ext cx="1600200" cy="393192"/>
          </a:xfrm>
          <a:prstGeom prst="roundRect">
            <a:avLst>
              <a:gd name="adj" fmla="val 13953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7086600" y="276148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조사보고서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28269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6FB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48640" y="3392424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3392424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/festival-plan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2240280" y="32826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01 · 02 · 단가표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31920" y="32826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가중치로 아이디어 평가, 예산 3안, 폭염·안전, KPI 측정 준비표, 자체 검토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95160" y="3337560"/>
            <a:ext cx="1600200" cy="393192"/>
          </a:xfrm>
          <a:prstGeom prst="roundRect">
            <a:avLst>
              <a:gd name="adj" fmla="val 13953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086600" y="333756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기획안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85876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3968496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48640" y="3968496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/festival-review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3858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03의 KPI + 실제 측정값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3931920" y="3858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못 한 지표는 비워 둠, 집행 실적을 단가표에 쌓음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95160" y="3913632"/>
            <a:ext cx="1600200" cy="393192"/>
          </a:xfrm>
          <a:prstGeom prst="roundRect">
            <a:avLst>
              <a:gd name="adj" fmla="val 13953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086600" y="391363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운영결과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차년도과제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526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공통 규칙은 지침서 한 곳에, 지침은 계속 추가·강화 예정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사투리인가 — 문제에서 콘셉트까지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94360" y="1289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289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11430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 콘셉트를 어떻게 도출했고, 포착한 문제로 기획안을 어떻게 짤 건지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1307592"/>
            <a:ext cx="329184" cy="237744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64608" y="114300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01768" y="1289304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001768" y="1289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143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→ 차별점 → 콘셉트 → 기획 장치 순서로 논리 정리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85216" y="20482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23042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포착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" y="26517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대구는 스쳐 가는 도시. 체류시간 전년 대비 -1.5%, 서울에서 오는 비율 1.0%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" y="3913632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85216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· 언론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02536" y="3008376"/>
            <a:ext cx="192024" cy="201168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221992" y="192024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2350008" y="20482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50008" y="23042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축제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350008" y="26517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먹거리·맥주 축제는 이미 있음. 같은 두류공원에서 치맥페스티벌 → 음식만으로는 차별이 어렵다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50008" y="3913632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2350008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67328" y="3008376"/>
            <a:ext cx="192024" cy="201168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986784" y="192024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114800" y="20482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23042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대구에만 있는 것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26517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말. 사투리 '테스트형' 콘텐츠는 공공 선례 있음 (국립한글박물관 사투리 전시 85,764명, 사투리 능력고사)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0" y="3913632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114800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· 공식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3008376"/>
            <a:ext cx="192024" cy="201168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751576" y="192024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5879592" y="20482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879592" y="23042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빈자리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879592" y="26517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사투리를 대표 자산으로 굳힌 사례는 아직 0건 → 먼저 자리 잡을 기회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79592" y="3913632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879592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96912" y="3008376"/>
            <a:ext cx="192024" cy="201168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516368" y="1920240"/>
            <a:ext cx="1170432" cy="2377440"/>
          </a:xfrm>
          <a:prstGeom prst="roundRect">
            <a:avLst>
              <a:gd name="adj" fmla="val 6250"/>
            </a:avLst>
          </a:prstGeom>
          <a:solidFill>
            <a:srgbClr val="008C3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644384" y="2048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FE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644384" y="233172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사투리를 매개로 대구의 말·음식·로컬을 경험하고 하루 이상 머무는 축제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3 ·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일하는 모습을 화면으로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설명하는 대신, 에이전트가 만든 결과물을 직접 보여 준다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2027 시범 실행 산출물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21792" y="1901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결정기록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27048" y="2340864"/>
            <a:ext cx="237744" cy="146304"/>
          </a:xfrm>
          <a:prstGeom prst="down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1792" y="250545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기획조건표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27048" y="2944368"/>
            <a:ext cx="237744" cy="146304"/>
          </a:xfrm>
          <a:prstGeom prst="down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1792" y="31089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조사보고서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27048" y="3547872"/>
            <a:ext cx="237744" cy="146304"/>
          </a:xfrm>
          <a:prstGeom prst="down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008C3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1792" y="37124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기획안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1572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기획안 기반 모바일 안내페이지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1901952"/>
            <a:ext cx="2743200" cy="2231136"/>
          </a:xfrm>
          <a:prstGeom prst="roundRect">
            <a:avLst>
              <a:gd name="adj" fmla="val 3279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291840" y="20299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3291840" y="20299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개요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0299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572000" y="20299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 시간표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243230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3291840" y="24323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대회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43230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72000" y="24323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지도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28346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3291840" y="2834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 능력고사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28346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572000" y="2834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10미 포장마차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23697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3291840" y="3236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스탬프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2027/안내페이지/index.html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결정이 문서에 반영되는 장면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1901952"/>
            <a:ext cx="2468880" cy="2231136"/>
          </a:xfrm>
          <a:prstGeom prst="roundRect">
            <a:avLst>
              <a:gd name="adj" fmla="val 3279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355080" y="2029968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355080" y="2029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“주제 C안으로 정했어”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33488" y="2542032"/>
            <a:ext cx="237744" cy="164592"/>
          </a:xfrm>
          <a:prstGeom prst="down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63550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결정기록에 자동으로 남음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33488" y="3145536"/>
            <a:ext cx="237744" cy="164592"/>
          </a:xfrm>
          <a:prstGeom prst="down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355080" y="3364992"/>
            <a:ext cx="2194560" cy="603504"/>
          </a:xfrm>
          <a:prstGeom prst="roundRect">
            <a:avLst>
              <a:gd name="adj" fmla="val 12121"/>
            </a:avLst>
          </a:prstGeom>
          <a:solidFill>
            <a:srgbClr val="FFF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6355080" y="336499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영향받는 문서에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경고가 붙음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526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안내페이지 라이브 시연 · 백업으로 화면 녹화와 캡처 3장 준비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더 쌓고 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94360" y="1289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289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11430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데이터를 더 방대하게 쌓아야 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1307592"/>
            <a:ext cx="329184" cy="237744"/>
          </a:xfrm>
          <a:prstGeom prst="right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64608" y="114300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01768" y="1289304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001768" y="1289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143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데이터 수집 완료,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리뷰·영상·SNS·방문객 데이터는 진행 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20848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084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완료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데이터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관광 사업 · 축제 사례 · 사투리 · 팝업·캐릭터·상업연계 (팀원 4명 파트)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429000" y="20848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3429000" y="2084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리뷰·영상·SNS 인사이트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배운 방법으로 방문객 반응에서 인사이트 찾기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20848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217920" y="2084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중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데이터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안에서 열리는 축제의 방문객 데이터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쪽은 모았고, 이제 사람이 실제로 어떻게 반응하는지 찾는 중</a:t>
            </a:r>
            <a:endParaRPr lang="en-US" sz="1100" dirty="0"/>
          </a:p>
        </p:txBody>
      </p:sp>
      <p:pic>
        <p:nvPicPr>
          <p:cNvPr id="29" name="Image 0" descr="캐릭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931920"/>
            <a:ext cx="150876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스쳐 가지 않고 머물게 하는 흐름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1순위는 ‘1박 이상 체류’. 단계마다 머물 이유를 하나씩 배치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48132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 3달 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481328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6FB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901952" y="1481328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사투리 능력고사 응시, 결과 공유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48132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대구에 갈 첫 이유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181051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 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1810512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901952" y="1810512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예선 신청 · 관람 예약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81051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날짜를 잡게 만듦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1FA8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2139696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 저녁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83080" y="2139696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6FB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901952" y="2139696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도착, 개막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13969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퇴근 후 출발 가능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1FA8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57200" y="246888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 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83080" y="2468880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901952" y="246888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말손님 사랑방 (폭염 대응)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468880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더위에도 현장에 남음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798064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1FA8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7200" y="27980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 저녁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83080" y="2798064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6FB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901952" y="2798064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10미 포장마차에서 사투리로 주문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2798064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야간 소비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127248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57200" y="312724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 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83080" y="3127248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901952" y="3127248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대회 결승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312724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07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막차 시간 이후 → 1박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456432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57200" y="345643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 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83080" y="3456432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901952" y="3456432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숙박 인증 혜택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126480" y="345643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07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자고 가면 보상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785616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1FA8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457200" y="3785616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오전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83080" y="3785616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901952" y="3785616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원조가게 스탬프투어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378561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축제장 밖 상권으로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11480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457200" y="411480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 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83080" y="4114800"/>
            <a:ext cx="4206240" cy="283464"/>
          </a:xfrm>
          <a:prstGeom prst="roundRect">
            <a:avLst>
              <a:gd name="adj" fmla="val 16129"/>
            </a:avLst>
          </a:prstGeom>
          <a:solidFill>
            <a:srgbClr val="F6FB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901952" y="411480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굿즈 · 참여 업체 소개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126480" y="4114800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재방문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544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결승을 토요일 밤에 → 그날 집에 가기 어려움 → 숙박 인증 혜택 → 다음 날 시내 원조가게로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역할을 가진 에이전트를 만든다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150876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087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축제 실행계획을 세우고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12848" y="2057400"/>
            <a:ext cx="237744" cy="146304"/>
          </a:xfrm>
          <a:prstGeom prst="down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1792" y="222199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2219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축제가 끝나면 성과를 분석해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12848" y="2770632"/>
            <a:ext cx="237744" cy="146304"/>
          </a:xfrm>
          <a:prstGeom prst="downArrow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008C3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21792" y="293522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FE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차년도 개선안으로 이어 준다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3749040" cy="365760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767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결정과 외부 연락·계약은 사람이 한다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성공적인 개최를 돕는 데이터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50876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736592" y="1508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확실한 데이터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1508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· 통계 자료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1945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E5F6F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736592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바로, 무료로 확보하는 데이터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36592" y="26334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736592" y="26334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능력고사 응시 기록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63347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135624" y="2633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체크인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77456" y="263347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077456" y="2633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숙박 인증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298094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736592" y="29809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설문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96712" y="298094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696712" y="29809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리뷰·SNS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456432"/>
            <a:ext cx="4114800" cy="676656"/>
          </a:xfrm>
          <a:prstGeom prst="roundRect">
            <a:avLst>
              <a:gd name="adj" fmla="val 10811"/>
            </a:avLst>
          </a:prstGeom>
          <a:solidFill>
            <a:srgbClr val="008C3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736592" y="345643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해마다 04 운영결과 · 05 차년도과제로 쌓여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해 기획의 입력이 된다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526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데이터가 쌓일수록 해마다 더 정확해진다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FD4F1-FFFA-30CF-B867-C91F61FF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F08E18-7C89-B9EF-45E5-34BEBE31C7D2}"/>
              </a:ext>
            </a:extLst>
          </p:cNvPr>
          <p:cNvSpPr txBox="1"/>
          <p:nvPr/>
        </p:nvSpPr>
        <p:spPr>
          <a:xfrm>
            <a:off x="1604141" y="60462"/>
            <a:ext cx="5935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https://claude.ai/artifact/WkSAFgNU68tghfeZUMyNV2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ABBB72-7D02-85D8-D5BB-A8F07DE39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46" y="429794"/>
            <a:ext cx="8401708" cy="472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72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FESTIVAL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음식 축제는 많은데, 뭘 참고하나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 + 먹거리 부스 길. 넓은 두류공원에 ‘말로 주문하는 10미 길’을 낸다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08C3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줄의 길로 배치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10미 포장마차를 한 줄로. 두류공원이 넓어서 가능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A84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429000" y="1755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사투리로 주문하면 혜택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강요가 아니라 선택 미션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6DCFF5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217920" y="1755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장소 사례 참고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치맥페스티벌의 구역 운영을 배치에 참고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10미 (공식 목록)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따로국밥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3611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64592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막창구이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3611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83464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뭉티기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0" y="3611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02336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동인동찜갈비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611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21208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논메기매운탕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720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복어불고기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0" y="40690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64592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누른국수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40690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283464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무침회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40690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02336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야끼우동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40690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21208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납작만두</a:t>
            </a:r>
            <a:endParaRPr lang="en-US" sz="1000" dirty="0"/>
          </a:p>
        </p:txBody>
      </p:sp>
      <p:pic>
        <p:nvPicPr>
          <p:cNvPr id="35" name="Image 0" descr="캐릭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246120"/>
            <a:ext cx="20116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FESTIVAL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 설계 — 캐릭터 · 기본 지침 · 구상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DED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말손님 강아지 캐릭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89888"/>
            <a:ext cx="1097280" cy="1399032"/>
          </a:xfrm>
          <a:prstGeom prst="rect">
            <a:avLst/>
          </a:prstGeom>
        </p:spPr>
      </p:pic>
      <p:pic>
        <p:nvPicPr>
          <p:cNvPr id="6" name="Image 1" descr="토박이 고양이 캐릭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1389888"/>
            <a:ext cx="1014984" cy="13990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29260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8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566928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말손님 · 강아지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3246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</a:rPr>
              <a:t>대구를 처음 찾은 외계인 관광객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1810512" y="29260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6DC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810512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토박이 · 고양이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810512" y="3246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대구말을 보여 주는 </a:t>
            </a:r>
            <a:r>
              <a:rPr lang="en-US" sz="950" dirty="0" err="1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</a:t>
            </a:r>
            <a:r>
              <a:rPr 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외계인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91840" y="12801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8F8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3456432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지침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56432" y="17830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· 8월 말 · 두류공원 · 타지역 2030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프로그램 고정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 토론 대회 · 10미 포장마차 · 소상공인 플리마켓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비하·정치·젠더·세대 갈등 논제, 할매 말투 콘셉트 제외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2801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08C3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245352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FE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구상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245352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「타지에서 온 말손님」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245352" y="21945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2027.08.20(금) ~ 22(일)</a:t>
            </a:r>
            <a:endParaRPr lang="en-US" sz="105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말손님 vs 토박이 토론 대회, 토요일 밤 결승</a:t>
            </a:r>
            <a:endParaRPr lang="en-US" sz="105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대구시 ‘도달쑤’, 수성구 ‘뚜비’ 같은 지역 캐릭터 IP 운영 사례를 참고해 굿즈로 확장 검토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B0F5-5F9D-1575-81E4-145E86D7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45DACC-E3F4-C9F9-142A-5097DAF10499}"/>
              </a:ext>
            </a:extLst>
          </p:cNvPr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FESTIVAL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614BA5-6C55-A84B-0DD5-A19994B1C02D}"/>
              </a:ext>
            </a:extLst>
          </p:cNvPr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 설계 — 캐릭터 · 기본 지침 · 구상</a:t>
            </a:r>
            <a:endParaRPr lang="en-US" sz="26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908949E-1F85-8E54-1A04-E7367064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28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7A035-EDE3-68FC-84AC-7E0EFDE5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5BCE62-70D9-7BED-E11A-8CFDD145A6FA}"/>
              </a:ext>
            </a:extLst>
          </p:cNvPr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FESTIVAL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6294D6-68EA-6EF3-26AA-1537EEC5BFD6}"/>
              </a:ext>
            </a:extLst>
          </p:cNvPr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 설계 — 캐릭터 · 기본 지침 · 구상</a:t>
            </a:r>
            <a:endParaRPr lang="en-US" sz="2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D95242-BD38-2DA1-7D63-A975ABF2F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5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0F88-6BB7-D68A-C22D-0916E19D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97301B3-2FF4-DEDE-3C4B-9BA603EDA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632"/>
            <a:ext cx="6064469" cy="34094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88A880A-17FF-C8CD-477E-02E8C749B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739" y="547694"/>
            <a:ext cx="2407910" cy="21574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336A76E-C086-AE7F-8B33-32D67B1EB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147" y="3525082"/>
            <a:ext cx="2183975" cy="12834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1C208DF-D91B-0842-BE14-6DFDE08DE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288" y="3494876"/>
            <a:ext cx="2183976" cy="13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30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48640"/>
            <a:ext cx="4937760" cy="4937760"/>
          </a:xfrm>
          <a:prstGeom prst="ellipse">
            <a:avLst/>
          </a:prstGeom>
          <a:solidFill>
            <a:srgbClr val="E5F6F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말손님과 토박이 캐릭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43000"/>
            <a:ext cx="4023360" cy="2642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1005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사투리 축제가 한 번이 아니라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</a:t>
            </a:r>
            <a:r>
              <a:rPr lang="en-US" sz="22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열리게 하겠습니다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9888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26280" y="2342835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4636008" y="2342835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2342835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 err="1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리뷰·영상·SNS</a:t>
            </a:r>
            <a:r>
              <a:rPr 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등을 토한 자료 추가조사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26280" y="2754315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636008" y="2754315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754315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자료조사 교차 검증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26280" y="3165795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636008" y="3165795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8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3165795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100" b="1" dirty="0">
                <a:solidFill>
                  <a:srgbClr val="123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및 에이전트 고도화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출처: local 리서치/통합_조사결과.md · 2027/02_조사보고서.md · 2027/03_기획안.md · 지침 local지침v1.md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체류시간·유입 비율은 데이터랩을 인용한 언론 수치이며 원자료는 확인 중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1814</Words>
  <Application>Microsoft Macintosh PowerPoint</Application>
  <PresentationFormat>화면 슬라이드 쇼(16:9)</PresentationFormat>
  <Paragraphs>292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말손님 피드백 반영 발표</dc:title>
  <dc:subject>PptxGenJS Presentation</dc:subject>
  <dc:creator>PptxGenJS</dc:creator>
  <cp:lastModifiedBy>오민주[ 학부재학 / 융합경영학부 글로벌경영전공 ]</cp:lastModifiedBy>
  <cp:revision>3</cp:revision>
  <dcterms:created xsi:type="dcterms:W3CDTF">2026-10-30T01:10:16Z</dcterms:created>
  <dcterms:modified xsi:type="dcterms:W3CDTF">2026-10-30T01:21:19Z</dcterms:modified>
</cp:coreProperties>
</file>